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147482663" r:id="rId2"/>
    <p:sldId id="2147482750" r:id="rId3"/>
    <p:sldId id="2147482752" r:id="rId4"/>
    <p:sldId id="2147482754" r:id="rId5"/>
    <p:sldId id="2147482753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86" autoAdjust="0"/>
    <p:restoredTop sz="94660"/>
  </p:normalViewPr>
  <p:slideViewPr>
    <p:cSldViewPr snapToGrid="0">
      <p:cViewPr varScale="1">
        <p:scale>
          <a:sx n="88" d="100"/>
          <a:sy n="88" d="100"/>
        </p:scale>
        <p:origin x="7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83FB-4E92-47AC-88A1-D00F15F0F86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8BD31-D2F3-46D3-8363-AD7F33CDEA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8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8DC404-5B01-4C8F-BDCD-73344528C59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15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8DC404-5B01-4C8F-BDCD-73344528C59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1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0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5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33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70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4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29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68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75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80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8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FACDF-81F4-4544-8CD5-AEED82DE025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B6A0F-70CA-4BE5-8594-F3609659C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7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at.p.co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78B0D29E-CA6A-4800-9112-DF25C9C52343}"/>
              </a:ext>
            </a:extLst>
          </p:cNvPr>
          <p:cNvSpPr txBox="1"/>
          <p:nvPr/>
        </p:nvSpPr>
        <p:spPr>
          <a:xfrm>
            <a:off x="6513227" y="103331"/>
            <a:ext cx="3134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ko-KR" altLang="en-US" sz="2000" b="1" dirty="0">
                <a:ln>
                  <a:solidFill>
                    <a:schemeClr val="accent6">
                      <a:alpha val="0"/>
                    </a:schemeClr>
                  </a:solidFill>
                </a:ln>
                <a:latin typeface="+mn-ea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14D63F-967E-4C37-A844-FFC1AD1ECF84}"/>
              </a:ext>
            </a:extLst>
          </p:cNvPr>
          <p:cNvSpPr/>
          <p:nvPr/>
        </p:nvSpPr>
        <p:spPr>
          <a:xfrm>
            <a:off x="10476755" y="1908590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pc="-150" dirty="0">
                <a:solidFill>
                  <a:prstClr val="black"/>
                </a:solidFill>
                <a:sym typeface="Wingdings" pitchFamily="2" charset="2"/>
              </a:rPr>
              <a:t>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5A477A-0E74-4501-9F9F-52B7841F3936}"/>
              </a:ext>
            </a:extLst>
          </p:cNvPr>
          <p:cNvCxnSpPr/>
          <p:nvPr/>
        </p:nvCxnSpPr>
        <p:spPr>
          <a:xfrm>
            <a:off x="113869" y="495144"/>
            <a:ext cx="9680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80F5C70-6CD8-4465-AC97-FE90C7AA3D9F}"/>
              </a:ext>
            </a:extLst>
          </p:cNvPr>
          <p:cNvSpPr txBox="1"/>
          <p:nvPr/>
        </p:nvSpPr>
        <p:spPr bwMode="auto">
          <a:xfrm>
            <a:off x="9417496" y="-32468"/>
            <a:ext cx="504058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90" tIns="45696" rIns="91390" bIns="45696" anchor="ctr"/>
          <a:lstStyle/>
          <a:p>
            <a:pPr algn="r" defTabSz="457200" latinLnBrk="0">
              <a:defRPr/>
            </a:pPr>
            <a:fld id="{5FC0E33A-0694-4BC5-87EF-D800DB377E99}" type="slidenum">
              <a:rPr lang="ko-KR" altLang="en-US" sz="1400">
                <a:solidFill>
                  <a:prstClr val="black"/>
                </a:solidFill>
                <a:latin typeface="+mn-ea"/>
              </a:rPr>
              <a:pPr algn="r" defTabSz="457200" latinLnBrk="0">
                <a:defRPr/>
              </a:pPr>
              <a:t/>
            </a:fld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8689F6-6469-42D9-AFF2-44FAE165B23A}"/>
              </a:ext>
            </a:extLst>
          </p:cNvPr>
          <p:cNvSpPr/>
          <p:nvPr/>
        </p:nvSpPr>
        <p:spPr>
          <a:xfrm>
            <a:off x="-134166" y="15319"/>
            <a:ext cx="6260647" cy="486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2000" rIns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물류 </a:t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1P (</a:t>
            </a:r>
            <a:r>
              <a:rPr lang="ko-KR" altLang="en-US" sz="2400" b="1" spc="-150" dirty="0" err="1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)</a:t>
            </a:r>
            <a:endParaRPr lang="ko-KR" altLang="en-US" sz="2400" b="1" spc="-150" dirty="0">
              <a:ln>
                <a:solidFill>
                  <a:srgbClr val="C50017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F6AA2D-ACAC-4E76-9546-A009FEA4F1F2}"/>
              </a:ext>
            </a:extLst>
          </p:cNvPr>
          <p:cNvSpPr/>
          <p:nvPr/>
        </p:nvSpPr>
        <p:spPr>
          <a:xfrm>
            <a:off x="2366357" y="73200"/>
            <a:ext cx="1778000" cy="365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월 추정 기준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7499516-D1C8-4854-9F8F-B7A615A3D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665897"/>
              </p:ext>
            </p:extLst>
          </p:nvPr>
        </p:nvGraphicFramePr>
        <p:xfrm>
          <a:off x="37205" y="565791"/>
          <a:ext cx="9757229" cy="621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864">
                  <a:extLst>
                    <a:ext uri="{9D8B030D-6E8A-4147-A177-3AD203B41FA5}">
                      <a16:colId xmlns:a16="http://schemas.microsoft.com/office/drawing/2014/main" val="2025811134"/>
                    </a:ext>
                  </a:extLst>
                </a:gridCol>
                <a:gridCol w="443829">
                  <a:extLst>
                    <a:ext uri="{9D8B030D-6E8A-4147-A177-3AD203B41FA5}">
                      <a16:colId xmlns:a16="http://schemas.microsoft.com/office/drawing/2014/main" val="2005490481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732789837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045401927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853818013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375883650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910768513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714588205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3474454720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979171045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227338707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096134749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218020523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550640130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4280306685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3318379384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63138581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460699152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579659375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090219658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1311533492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3795974864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4096112077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242573363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3452380758"/>
                    </a:ext>
                  </a:extLst>
                </a:gridCol>
                <a:gridCol w="347189">
                  <a:extLst>
                    <a:ext uri="{9D8B030D-6E8A-4147-A177-3AD203B41FA5}">
                      <a16:colId xmlns:a16="http://schemas.microsoft.com/office/drawing/2014/main" val="988892939"/>
                    </a:ext>
                  </a:extLst>
                </a:gridCol>
              </a:tblGrid>
              <a:tr h="18836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핵심지표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비용영역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고객속도</a:t>
                      </a:r>
                      <a:r>
                        <a:rPr lang="en-US" altLang="ko-KR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05727"/>
                  </a:ext>
                </a:extLst>
              </a:tr>
              <a:tr h="161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물류비</a:t>
                      </a:r>
                      <a:endParaRPr kumimoji="0" lang="ko-KR" altLang="en-US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대 비용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센터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체화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센터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체화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피킹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8610"/>
                  </a:ext>
                </a:extLst>
              </a:tr>
              <a:tr h="2511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어느 영역</a:t>
                      </a: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누가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책임자</a:t>
                      </a:r>
                      <a:r>
                        <a:rPr kumimoji="0" lang="en-US" altLang="ko-KR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비율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센터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점포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임차료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인건비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운반비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포장비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비중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비중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리드타임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PCS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리드타임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PCS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91341"/>
                  </a:ext>
                </a:extLst>
              </a:tr>
              <a:tr h="17612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물류책임자</a:t>
                      </a:r>
                      <a:endParaRPr lang="en-US" altLang="ko-KR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defTabSz="914400" latinLnBrk="1"/>
                      <a:r>
                        <a:rPr lang="ko-KR" altLang="en-US" sz="1000" spc="-150" dirty="0"/>
                        <a:t/>
                      </a:r>
                      <a:r>
                        <a:rPr lang="en-US" altLang="ko-KR" sz="1000" spc="-150" dirty="0"/>
                        <a:t>/</a:t>
                      </a:r>
                      <a:r>
                        <a:rPr lang="ko-KR" altLang="en-US" sz="1000" spc="-150" dirty="0"/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latinLnBrk="1"/>
                      <a:endParaRPr lang="ko-KR" altLang="en-US" sz="1000" spc="-15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latinLnBrk="1"/>
                      <a:endParaRPr lang="ko-KR" altLang="en-US" sz="1000" spc="-15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96299"/>
                  </a:ext>
                </a:extLst>
              </a:tr>
              <a:tr h="1937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endParaRPr lang="en-US" sz="105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04907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56121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FW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5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38833"/>
                  </a:ext>
                </a:extLst>
              </a:tr>
              <a:tr h="41604">
                <a:tc>
                  <a:txBody>
                    <a:bodyPr/>
                    <a:lstStyle/>
                    <a:p>
                      <a:pPr algn="l" fontAlgn="ctr"/>
                      <a:endParaRPr lang="en-US" sz="1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b="0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339331"/>
                  </a:ext>
                </a:extLst>
              </a:tr>
              <a:tr h="1937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여성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032302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898183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FW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0457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여성 신상 전체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261053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752402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855863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여성 이월 전체</a:t>
                      </a:r>
                      <a:endParaRPr lang="ko-KR" alt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582254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137360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092016"/>
                  </a:ext>
                </a:extLst>
              </a:tr>
              <a:tr h="1937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46881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412352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FW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39752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 신상 전체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511439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93019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89733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남성 이월 전체</a:t>
                      </a:r>
                      <a:endParaRPr lang="ko-KR" alt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64113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492394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911"/>
                  </a:ext>
                </a:extLst>
              </a:tr>
              <a:tr h="1937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25719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57008"/>
                  </a:ext>
                </a:extLst>
              </a:tr>
              <a:tr h="1778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FW</a:t>
                      </a:r>
                      <a:r>
                        <a:rPr lang="ko-KR" altLang="en-US" sz="9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1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13323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 신상 전체</a:t>
                      </a:r>
                      <a:endParaRPr 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99098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450612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184927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아동 이월 전체</a:t>
                      </a:r>
                      <a:endParaRPr lang="ko-KR" altLang="en-US" sz="9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5284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(1)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신상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94425"/>
                  </a:ext>
                </a:extLst>
              </a:tr>
              <a:tr h="17789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(2)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FW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i="0" u="none" strike="noStrike" kern="1200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42643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3F369C1C-DAAF-BB18-3C12-8DFDFD7D4AC6}"/>
              </a:ext>
            </a:extLst>
          </p:cNvPr>
          <p:cNvSpPr/>
          <p:nvPr/>
        </p:nvSpPr>
        <p:spPr>
          <a:xfrm>
            <a:off x="684057" y="3253312"/>
            <a:ext cx="8537886" cy="3176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펼치면 아이템별로</a:t>
            </a:r>
          </a:p>
        </p:txBody>
      </p:sp>
    </p:spTree>
    <p:extLst>
      <p:ext uri="{BB962C8B-B14F-4D97-AF65-F5344CB8AC3E}">
        <p14:creationId xmlns:p14="http://schemas.microsoft.com/office/powerpoint/2010/main" val="382012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941497-9FA2-471F-B1DC-FBE005E809A9}"/>
              </a:ext>
            </a:extLst>
          </p:cNvPr>
          <p:cNvCxnSpPr/>
          <p:nvPr/>
        </p:nvCxnSpPr>
        <p:spPr>
          <a:xfrm>
            <a:off x="113869" y="495144"/>
            <a:ext cx="9680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F5E1777-5EDF-4515-9087-3DAB9EF6E704}"/>
              </a:ext>
            </a:extLst>
          </p:cNvPr>
          <p:cNvSpPr txBox="1"/>
          <p:nvPr/>
        </p:nvSpPr>
        <p:spPr bwMode="auto">
          <a:xfrm>
            <a:off x="9417496" y="-32468"/>
            <a:ext cx="504058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90" tIns="45696" rIns="91390" bIns="45696" anchor="ctr"/>
          <a:lstStyle/>
          <a:p>
            <a:pPr algn="r" defTabSz="457200" latinLnBrk="0">
              <a:defRPr/>
            </a:pPr>
            <a:fld id="{5FC0E33A-0694-4BC5-87EF-D800DB377E99}" type="slidenum">
              <a:rPr lang="ko-KR" altLang="en-US" sz="1400">
                <a:solidFill>
                  <a:prstClr val="black"/>
                </a:solidFill>
                <a:latin typeface="+mn-ea"/>
              </a:rPr>
              <a:pPr algn="r" defTabSz="457200" latinLnBrk="0">
                <a:defRPr/>
              </a:pPr>
              <a:t/>
            </a:fld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DD2324-C126-4B81-8369-711F7018E700}"/>
              </a:ext>
            </a:extLst>
          </p:cNvPr>
          <p:cNvSpPr/>
          <p:nvPr/>
        </p:nvSpPr>
        <p:spPr>
          <a:xfrm>
            <a:off x="-134166" y="15319"/>
            <a:ext cx="6260647" cy="486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2000" rIns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#.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(1)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매장 </a:t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SCM 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(6</a:t>
            </a:r>
            <a:r>
              <a:rPr lang="ko-KR" altLang="en-US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월 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ko-KR" altLang="en-US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)</a:t>
            </a:r>
            <a:endParaRPr lang="ko-KR" altLang="en-US" sz="2400" spc="-150" dirty="0">
              <a:ln>
                <a:solidFill>
                  <a:srgbClr val="C50017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C7F17EC-8483-4F04-8AA3-773F56DA2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18401"/>
              </p:ext>
            </p:extLst>
          </p:nvPr>
        </p:nvGraphicFramePr>
        <p:xfrm>
          <a:off x="84661" y="1353749"/>
          <a:ext cx="9736681" cy="5461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707">
                  <a:extLst>
                    <a:ext uri="{9D8B030D-6E8A-4147-A177-3AD203B41FA5}">
                      <a16:colId xmlns:a16="http://schemas.microsoft.com/office/drawing/2014/main" val="2025811134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1621784108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4122122724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2272996356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3885973019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1723413453"/>
                    </a:ext>
                  </a:extLst>
                </a:gridCol>
                <a:gridCol w="433707">
                  <a:extLst>
                    <a:ext uri="{9D8B030D-6E8A-4147-A177-3AD203B41FA5}">
                      <a16:colId xmlns:a16="http://schemas.microsoft.com/office/drawing/2014/main" val="994965167"/>
                    </a:ext>
                  </a:extLst>
                </a:gridCol>
                <a:gridCol w="468047">
                  <a:extLst>
                    <a:ext uri="{9D8B030D-6E8A-4147-A177-3AD203B41FA5}">
                      <a16:colId xmlns:a16="http://schemas.microsoft.com/office/drawing/2014/main" val="3748277604"/>
                    </a:ext>
                  </a:extLst>
                </a:gridCol>
                <a:gridCol w="470837">
                  <a:extLst>
                    <a:ext uri="{9D8B030D-6E8A-4147-A177-3AD203B41FA5}">
                      <a16:colId xmlns:a16="http://schemas.microsoft.com/office/drawing/2014/main" val="635839925"/>
                    </a:ext>
                  </a:extLst>
                </a:gridCol>
                <a:gridCol w="473628">
                  <a:extLst>
                    <a:ext uri="{9D8B030D-6E8A-4147-A177-3AD203B41FA5}">
                      <a16:colId xmlns:a16="http://schemas.microsoft.com/office/drawing/2014/main" val="2245089309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759895263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3262997266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1795573926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4239621194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503941900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637226709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519891627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1667794528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2096134749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1217637386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2014231258"/>
                    </a:ext>
                  </a:extLst>
                </a:gridCol>
                <a:gridCol w="440685">
                  <a:extLst>
                    <a:ext uri="{9D8B030D-6E8A-4147-A177-3AD203B41FA5}">
                      <a16:colId xmlns:a16="http://schemas.microsoft.com/office/drawing/2014/main" val="480128516"/>
                    </a:ext>
                  </a:extLst>
                </a:gridCol>
              </a:tblGrid>
              <a:tr h="16160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매장</a:t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핵심 지표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>기준 지표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altLang="ko-KR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05727"/>
                  </a:ext>
                </a:extLst>
              </a:tr>
              <a:tr h="277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여름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(2,9)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기준 比</a:t>
                      </a:r>
                      <a:r>
                        <a:rPr kumimoji="0" lang="en-US" altLang="ko-KR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진열량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주판량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입고량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주판량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판매량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여름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매장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입고량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매장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주판량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매장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판매량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매장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후방 창고</a:t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(-)</a:t>
                      </a: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(-)</a:t>
                      </a:r>
                    </a:p>
                    <a:p>
                      <a:pPr marL="0" algn="ctr" defTabSz="914400" rtl="0" eaLnBrk="1" latinLnBrk="1" hangingPunct="1"/>
                      <a:r>
                        <a:rPr lang="ko-KR" altLang="en-US" sz="900" b="1" kern="1200" spc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1" kern="1200" spc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91341"/>
                  </a:ext>
                </a:extLst>
              </a:tr>
              <a:tr h="3385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pc="-150" dirty="0">
                          <a:solidFill>
                            <a:schemeClr val="tx1"/>
                          </a:solidFill>
                        </a:rPr>
                        <a:t>OPR </a:t>
                      </a:r>
                      <a:r>
                        <a:rPr lang="ko-KR" altLang="en-US" sz="1200" b="1" spc="-15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altLang="ko-KR" sz="12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>아동</a:t>
                      </a:r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0" i="0" u="none" strike="noStrike" kern="1200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0" i="0" u="none" strike="noStrike" kern="1200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0" i="0" u="none" strike="noStrike" kern="1200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(12,727)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i="0" u="none" strike="noStrike" kern="120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404907"/>
                  </a:ext>
                </a:extLst>
              </a:tr>
              <a:tr h="3616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pc="-150" dirty="0">
                          <a:solidFill>
                            <a:schemeClr val="tx1"/>
                          </a:solidFill>
                        </a:rPr>
                        <a:t>OPR </a:t>
                      </a:r>
                      <a:r>
                        <a:rPr lang="ko-KR" altLang="en-US" sz="1200" b="1" spc="-150" dirty="0">
                          <a:solidFill>
                            <a:schemeClr val="tx1"/>
                          </a:solidFill>
                        </a:rPr>
                        <a:t>직영</a:t>
                      </a:r>
                      <a:endParaRPr lang="en-US" altLang="ko-KR" sz="12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(11,309)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i="0" u="none" strike="noStrike" kern="1200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48486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(1,287)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820860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(3,173)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663963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(552)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593591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(1,461)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027573"/>
                  </a:ext>
                </a:extLst>
              </a:tr>
              <a:tr h="34034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(89)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65895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96378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719009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(322)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690305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02358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(430)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90044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(3,198)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504387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63847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(168)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356009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(88)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7929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603894F8-E7B3-40FB-9E36-4E608BE7C145}"/>
              </a:ext>
            </a:extLst>
          </p:cNvPr>
          <p:cNvSpPr/>
          <p:nvPr/>
        </p:nvSpPr>
        <p:spPr>
          <a:xfrm>
            <a:off x="53070" y="501235"/>
            <a:ext cx="9768267" cy="6314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>
              <a:lnSpc>
                <a:spcPct val="140000"/>
              </a:lnSpc>
            </a:pP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pc="-150" dirty="0" err="1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) 6</a:t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월 출고량</a:t>
            </a:r>
            <a:r>
              <a:rPr lang="en-US" altLang="ko-KR" sz="12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(=</a:t>
            </a:r>
            <a:r>
              <a:rPr lang="ko-KR" altLang="en-US" sz="12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매장 </a:t>
            </a:r>
            <a:r>
              <a:rPr lang="ko-KR" altLang="en-US" sz="1200" spc="-300" dirty="0" err="1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입고량</a:t>
            </a:r>
            <a:r>
              <a:rPr lang="en-US" altLang="ko-KR" sz="12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)</a:t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장</a:t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판매량 </a:t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장</a:t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장</a:t>
            </a:r>
            <a:r>
              <a:rPr lang="en-US" altLang="ko-KR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일</a:t>
            </a:r>
            <a:r>
              <a:rPr lang="en-US" altLang="ko-KR" sz="1600" spc="-30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)</a:t>
            </a:r>
            <a:endParaRPr lang="en-US" altLang="ko-KR" spc="-300" dirty="0">
              <a:solidFill>
                <a:schemeClr val="tx1"/>
              </a:solidFill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40000"/>
              </a:lnSpc>
            </a:pP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직영</a:t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) </a:t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z="1400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(108</a:t>
            </a:r>
            <a:r>
              <a:rPr lang="ko-KR" altLang="en-US" sz="1400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일</a:t>
            </a:r>
            <a:r>
              <a:rPr lang="en-US" altLang="ko-KR" sz="1400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)</a:t>
            </a:r>
            <a:r>
              <a:rPr lang="ko-KR" altLang="en-US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ko-KR" altLang="en-US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(-)</a:t>
            </a:r>
            <a:r>
              <a:rPr lang="ko-KR" altLang="en-US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en-US" altLang="ko-KR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/>
            </a:r>
            <a:r>
              <a:rPr lang="ko-KR" altLang="en-US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억</a:t>
            </a:r>
            <a:r>
              <a:rPr lang="en-US" altLang="ko-KR" sz="1600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(11,309</a:t>
            </a:r>
            <a:r>
              <a:rPr lang="ko-KR" altLang="en-US" sz="1600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장 수불오차</a:t>
            </a:r>
            <a:r>
              <a:rPr lang="en-US" altLang="ko-KR" sz="1600" spc="-15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)</a:t>
            </a:r>
            <a:endParaRPr lang="en-US" altLang="ko-KR" spc="-150" dirty="0">
              <a:solidFill>
                <a:srgbClr val="FF0000"/>
              </a:solidFill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31C6BC-155E-4FD5-8A4E-B0B389E8796B}"/>
              </a:ext>
            </a:extLst>
          </p:cNvPr>
          <p:cNvSpPr/>
          <p:nvPr/>
        </p:nvSpPr>
        <p:spPr>
          <a:xfrm>
            <a:off x="7916333" y="130015"/>
            <a:ext cx="1778000" cy="365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월 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/>
            </a:r>
            <a:r>
              <a:rPr lang="en-US" altLang="ko-KR" sz="1600" b="1" dirty="0">
                <a:solidFill>
                  <a:schemeClr val="tx1"/>
                </a:solidFill>
              </a:rPr>
              <a:t>(6/1~21)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D40A51-819D-83CC-73AE-7EBFB6E5B255}"/>
              </a:ext>
            </a:extLst>
          </p:cNvPr>
          <p:cNvSpPr/>
          <p:nvPr/>
        </p:nvSpPr>
        <p:spPr>
          <a:xfrm>
            <a:off x="684057" y="3253312"/>
            <a:ext cx="8537886" cy="3176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/>
            </a:r>
            <a:r>
              <a:rPr lang="ko-KR" altLang="en-US" dirty="0"/>
              <a:t> </a:t>
            </a:r>
            <a:r>
              <a:rPr lang="en-US" altLang="ko-KR" dirty="0" err="1"/>
              <a:t>ofa</a:t>
            </a:r>
            <a:r>
              <a:rPr lang="en-US" altLang="ko-KR" dirty="0"/>
              <a:t> </a:t>
            </a:r>
            <a:r>
              <a:rPr lang="ko-KR" altLang="en-US" dirty="0"/>
              <a:t>제외한 것 </a:t>
            </a:r>
            <a:r>
              <a:rPr lang="en-US" altLang="ko-KR" dirty="0"/>
              <a:t>(</a:t>
            </a:r>
            <a:r>
              <a:rPr lang="ko-KR" altLang="en-US" dirty="0"/>
              <a:t>직영에서도</a:t>
            </a:r>
            <a:r>
              <a:rPr lang="en-US" altLang="ko-KR" dirty="0"/>
              <a:t>)</a:t>
            </a:r>
          </a:p>
          <a:p>
            <a:pPr algn="ctr"/>
            <a:r>
              <a:rPr lang="ko-KR" altLang="en-US" dirty="0"/>
              <a:t/>
            </a:r>
            <a:r>
              <a:rPr lang="en-US" altLang="ko-KR" dirty="0"/>
              <a:t>OFA </a:t>
            </a:r>
            <a:r>
              <a:rPr lang="ko-KR" altLang="en-US" dirty="0" err="1"/>
              <a:t/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/>
            </a:r>
            <a:r>
              <a:rPr lang="en-US" altLang="ko-KR" dirty="0"/>
              <a:t> = </a:t>
            </a:r>
            <a:r>
              <a:rPr lang="ko-KR" altLang="en-US" dirty="0"/>
              <a:t/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/>
            </a:r>
            <a:r>
              <a:rPr lang="ko-KR" altLang="en-US" dirty="0"/>
              <a:t> 직영으로만 하고</a:t>
            </a:r>
            <a:endParaRPr lang="en-US" altLang="ko-KR" dirty="0"/>
          </a:p>
          <a:p>
            <a:pPr algn="ctr"/>
            <a:r>
              <a:rPr lang="en-US" altLang="ko-KR" dirty="0"/>
              <a:t>OPR </a:t>
            </a:r>
            <a:r>
              <a:rPr lang="ko-KR" altLang="en-US" dirty="0"/>
              <a:t/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556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941497-9FA2-471F-B1DC-FBE005E809A9}"/>
              </a:ext>
            </a:extLst>
          </p:cNvPr>
          <p:cNvCxnSpPr/>
          <p:nvPr/>
        </p:nvCxnSpPr>
        <p:spPr>
          <a:xfrm>
            <a:off x="113869" y="495144"/>
            <a:ext cx="9680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F5E1777-5EDF-4515-9087-3DAB9EF6E704}"/>
              </a:ext>
            </a:extLst>
          </p:cNvPr>
          <p:cNvSpPr txBox="1"/>
          <p:nvPr/>
        </p:nvSpPr>
        <p:spPr bwMode="auto">
          <a:xfrm>
            <a:off x="9417496" y="-32468"/>
            <a:ext cx="504058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90" tIns="45696" rIns="91390" bIns="45696" anchor="ctr"/>
          <a:lstStyle/>
          <a:p>
            <a:pPr algn="r" defTabSz="457200" latinLnBrk="0">
              <a:defRPr/>
            </a:pPr>
            <a:fld id="{5FC0E33A-0694-4BC5-87EF-D800DB377E99}" type="slidenum">
              <a:rPr lang="ko-KR" altLang="en-US" sz="1400">
                <a:solidFill>
                  <a:prstClr val="black"/>
                </a:solidFill>
                <a:latin typeface="+mn-ea"/>
              </a:rPr>
              <a:pPr algn="r" defTabSz="457200" latinLnBrk="0">
                <a:defRPr/>
              </a:pPr>
              <a:t/>
            </a:fld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DD2324-C126-4B81-8369-711F7018E700}"/>
              </a:ext>
            </a:extLst>
          </p:cNvPr>
          <p:cNvSpPr/>
          <p:nvPr/>
        </p:nvSpPr>
        <p:spPr>
          <a:xfrm>
            <a:off x="-134166" y="15319"/>
            <a:ext cx="6260647" cy="486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2000" rIns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#.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(2)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SCM 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</a:t>
            </a:r>
            <a:r>
              <a:rPr lang="ko-KR" altLang="en-US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입고부터 누적 기록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)</a:t>
            </a:r>
            <a:endParaRPr lang="ko-KR" altLang="en-US" sz="2400" b="1" spc="-150" dirty="0">
              <a:ln>
                <a:solidFill>
                  <a:srgbClr val="C50017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E9D4CE8-6784-43FE-9D8C-37C9A395F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974514"/>
              </p:ext>
            </p:extLst>
          </p:nvPr>
        </p:nvGraphicFramePr>
        <p:xfrm>
          <a:off x="77973" y="510412"/>
          <a:ext cx="9716477" cy="6357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417">
                  <a:extLst>
                    <a:ext uri="{9D8B030D-6E8A-4147-A177-3AD203B41FA5}">
                      <a16:colId xmlns:a16="http://schemas.microsoft.com/office/drawing/2014/main" val="2025811134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74652621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348900781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479243044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272996356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73278983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99496516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59895263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08723728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345786962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2838165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92913163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355815806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44839286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261759700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178336251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556764752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067605780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24733484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147346447"/>
                    </a:ext>
                  </a:extLst>
                </a:gridCol>
                <a:gridCol w="1377427">
                  <a:extLst>
                    <a:ext uri="{9D8B030D-6E8A-4147-A177-3AD203B41FA5}">
                      <a16:colId xmlns:a16="http://schemas.microsoft.com/office/drawing/2014/main" val="3047933466"/>
                    </a:ext>
                  </a:extLst>
                </a:gridCol>
              </a:tblGrid>
              <a:tr h="15826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잘 입고했는가</a:t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매입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물류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잘 팔았는가</a:t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영업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비고 사항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781688"/>
                  </a:ext>
                </a:extLst>
              </a:tr>
              <a:tr h="316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MD</a:t>
                      </a:r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입고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입고량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정보</a:t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정보</a:t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전달일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속도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15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별</a:t>
                      </a:r>
                      <a:endParaRPr lang="en-US" altLang="ko-KR" sz="10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적합도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105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출고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>출고</a:t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출고량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출고율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판매량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매총율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91341"/>
                  </a:ext>
                </a:extLst>
              </a:tr>
              <a:tr h="30146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>캘빈클라인</a:t>
                      </a:r>
                      <a:r>
                        <a:rPr lang="en-US" altLang="ko-KR" sz="700" b="1" dirty="0">
                          <a:effectLst/>
                        </a:rPr>
                        <a:t>_</a:t>
                      </a:r>
                      <a:r>
                        <a:rPr lang="en-US" sz="700" b="1" dirty="0">
                          <a:effectLst/>
                        </a:rPr>
                        <a:t>CKJ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4/29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4/30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</a:rPr>
                        <a:t>21sku</a:t>
                      </a:r>
                      <a:r>
                        <a:rPr lang="ko-KR" altLang="en-US" sz="90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SKU “P” </a:t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fontAlgn="ctr" latinLnBrk="1" hangingPunct="1"/>
                      <a:r>
                        <a:rPr lang="ko-KR" altLang="en-US" sz="1000" b="0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초반대비 판매속도 꺾임</a:t>
                      </a:r>
                      <a:endParaRPr lang="en-US" altLang="ko-KR" sz="1000" b="0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585250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>캘빈클라인</a:t>
                      </a:r>
                      <a:r>
                        <a:rPr lang="en-US" altLang="ko-KR" sz="700" b="1" dirty="0">
                          <a:effectLst/>
                        </a:rPr>
                        <a:t>_</a:t>
                      </a:r>
                      <a:r>
                        <a:rPr lang="en-US" sz="700" b="1" dirty="0">
                          <a:effectLst/>
                        </a:rPr>
                        <a:t>CKU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4/29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4/30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5/22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b="0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392043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>캘빈클라인</a:t>
                      </a:r>
                      <a:r>
                        <a:rPr lang="en-US" altLang="ko-KR" sz="700" b="1" dirty="0">
                          <a:effectLst/>
                        </a:rPr>
                        <a:t>_</a:t>
                      </a:r>
                      <a:r>
                        <a:rPr lang="en-US" sz="700" b="1" dirty="0">
                          <a:effectLst/>
                        </a:rPr>
                        <a:t>SPW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4/29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4/30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6/8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판매 없음</a:t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680249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>
                          <a:effectLst/>
                        </a:rPr>
                        <a:t/>
                      </a:r>
                      <a:endParaRPr lang="en-US" altLang="ko-KR" sz="700" b="1" dirty="0">
                        <a:effectLst/>
                      </a:endParaRPr>
                    </a:p>
                    <a:p>
                      <a:pPr algn="ctr" rtl="0" fontAlgn="ctr"/>
                      <a:r>
                        <a:rPr lang="en-US" altLang="ko-KR" sz="700" b="1" dirty="0">
                          <a:effectLst/>
                        </a:rPr>
                        <a:t/>
                      </a:r>
                      <a:r>
                        <a:rPr lang="ko-KR" altLang="en-US" sz="700" b="1" dirty="0">
                          <a:effectLst/>
                        </a:rPr>
                        <a:t>차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5/07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algn="ctr" latinLnBrk="1"/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spc="-150" dirty="0" err="1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8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130 SKU “P” </a:t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초반 대비 판매 속도 꺾임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43882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>
                          <a:effectLst/>
                        </a:rPr>
                        <a:t/>
                      </a:r>
                      <a:endParaRPr lang="en-US" altLang="ko-KR" sz="700" b="1" dirty="0">
                        <a:effectLst/>
                      </a:endParaRPr>
                    </a:p>
                    <a:p>
                      <a:pPr algn="ctr" rtl="0" fontAlgn="ctr"/>
                      <a:r>
                        <a:rPr lang="en-US" altLang="ko-KR" sz="700" b="1" dirty="0">
                          <a:effectLst/>
                        </a:rPr>
                        <a:t/>
                      </a:r>
                      <a:r>
                        <a:rPr lang="ko-KR" altLang="en-US" sz="700" b="1" dirty="0">
                          <a:effectLst/>
                        </a:rPr>
                        <a:t>차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5./11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95874"/>
                  </a:ext>
                </a:extLst>
              </a:tr>
              <a:tr h="30146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spc="-150" dirty="0" err="1">
                          <a:effectLst/>
                        </a:rPr>
                        <a:t>메종키츠네</a:t>
                      </a:r>
                      <a:endParaRPr lang="ko-KR" altLang="en-US" sz="700" b="1" spc="-150" dirty="0"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</a:rPr>
                        <a:t>4sku</a:t>
                      </a:r>
                      <a:r>
                        <a:rPr lang="ko-KR" altLang="en-US" sz="90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5/28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SKU “P” </a:t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234185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>
                          <a:effectLst/>
                        </a:rPr>
                        <a:t>오프닝프로젝트</a:t>
                      </a:r>
                      <a:r>
                        <a:rPr lang="en-US" altLang="ko-KR" sz="700" b="1" dirty="0">
                          <a:effectLst/>
                        </a:rPr>
                        <a:t>SS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375718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>
                          <a:effectLst/>
                        </a:rPr>
                        <a:t/>
                      </a:r>
                      <a:r>
                        <a:rPr lang="en-US" sz="700" b="1" dirty="0">
                          <a:effectLst/>
                        </a:rPr>
                        <a:t>SS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968465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/>
                      </a:r>
                      <a:r>
                        <a:rPr lang="ko-KR" altLang="en-US" sz="700" b="1" dirty="0">
                          <a:effectLst/>
                        </a:rPr>
                        <a:t> </a:t>
                      </a:r>
                      <a:r>
                        <a:rPr lang="en-US" sz="700" b="1" dirty="0">
                          <a:effectLst/>
                        </a:rPr>
                        <a:t>SS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31206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u="sng" dirty="0">
                          <a:solidFill>
                            <a:srgbClr val="1155CC"/>
                          </a:solidFill>
                          <a:effectLst/>
                          <a:hlinkClick r:id="rId2"/>
                        </a:rPr>
                        <a:t>AT.P.CO</a:t>
                      </a:r>
                      <a:endParaRPr lang="en-US" sz="700" b="1" u="sng" dirty="0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1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238345"/>
                  </a:ext>
                </a:extLst>
              </a:tr>
              <a:tr h="29638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spc="-150" dirty="0">
                          <a:effectLst/>
                        </a:rPr>
                        <a:t>노스페이스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1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5/29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l" latinLnBrk="1"/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출고 속도를 높여야 함</a:t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667940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/>
                      </a:r>
                      <a:endParaRPr lang="ko-KR" altLang="en-US" sz="700" b="1" dirty="0"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5/15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5/27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148718"/>
                  </a:ext>
                </a:extLst>
              </a:tr>
              <a:tr h="271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effectLst/>
                        </a:rPr>
                        <a:t>오프닝프로젝트 </a:t>
                      </a:r>
                      <a:r>
                        <a:rPr lang="en-US" altLang="ko-KR" sz="700" b="1" dirty="0">
                          <a:effectLst/>
                        </a:rPr>
                        <a:t>FF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11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kumimoji="0" lang="ko-KR" altLang="en-US" sz="11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6/8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ko-KR" altLang="en-US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9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05441"/>
                  </a:ext>
                </a:extLst>
              </a:tr>
              <a:tr h="2110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effectLst/>
                        </a:rPr>
                        <a:t/>
                      </a:r>
                      <a:r>
                        <a:rPr lang="en-US" altLang="ko-KR" sz="700" b="1" dirty="0">
                          <a:effectLst/>
                        </a:rPr>
                        <a:t>FF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6/8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69266"/>
                  </a:ext>
                </a:extLst>
              </a:tr>
              <a:tr h="271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>
                          <a:effectLst/>
                        </a:rPr>
                        <a:t/>
                      </a:r>
                      <a:r>
                        <a:rPr lang="ko-KR" altLang="en-US" sz="700" b="1" dirty="0">
                          <a:effectLst/>
                        </a:rPr>
                        <a:t> </a:t>
                      </a:r>
                      <a:r>
                        <a:rPr lang="en-US" altLang="ko-KR" sz="700" b="1" dirty="0">
                          <a:effectLst/>
                        </a:rPr>
                        <a:t>FF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321499"/>
                  </a:ext>
                </a:extLst>
              </a:tr>
              <a:tr h="271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effectLst/>
                        </a:rPr>
                        <a:t>노브아카이브</a:t>
                      </a:r>
                      <a:r>
                        <a:rPr lang="ko-KR" altLang="en-US" sz="700" b="1" dirty="0">
                          <a:effectLst/>
                        </a:rPr>
                        <a:t> </a:t>
                      </a:r>
                      <a:r>
                        <a:rPr lang="en-US" altLang="ko-KR" sz="700" b="1" dirty="0">
                          <a:effectLst/>
                        </a:rPr>
                        <a:t>FW</a:t>
                      </a:r>
                      <a:endParaRPr lang="ko-KR" altLang="en-US" sz="700" b="1" dirty="0"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6/8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563054"/>
                  </a:ext>
                </a:extLst>
              </a:tr>
              <a:tr h="271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effectLst/>
                        </a:rPr>
                        <a:t>FW</a:t>
                      </a:r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504387"/>
                  </a:ext>
                </a:extLst>
              </a:tr>
              <a:tr h="271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>메종미네드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effectLst/>
                        </a:rPr>
                        <a:t>SS</a:t>
                      </a:r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5/27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5/27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6/16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022054"/>
                  </a:ext>
                </a:extLst>
              </a:tr>
              <a:tr h="20599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</a:rPr>
                        <a:t>LAP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6/4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6/4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2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kern="1200" spc="-15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585747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en-US" altLang="ko-KR" sz="7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6/4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6/4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2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6/15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SKU</a:t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 과다</a:t>
                      </a:r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(1</a:t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97SKU)</a:t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480950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정보전달일 지연   </a:t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(6/12 </a:t>
                      </a:r>
                      <a:r>
                        <a:rPr lang="ko-KR" altLang="en-US" sz="850" b="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텍발행정보</a:t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371246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>메종미네드</a:t>
                      </a:r>
                      <a:endParaRPr lang="en-US" altLang="ko-KR" sz="7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effectLst/>
                        </a:rPr>
                        <a:t>FW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l" latinLnBrk="1"/>
                      <a:r>
                        <a:rPr lang="ko-KR" altLang="en-US" sz="850" b="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8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850" b="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02700"/>
                  </a:ext>
                </a:extLst>
              </a:tr>
              <a:tr h="236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spc="-150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9049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88FEAF69-A8DE-482F-91BE-2025E3BCC94A}"/>
              </a:ext>
            </a:extLst>
          </p:cNvPr>
          <p:cNvSpPr/>
          <p:nvPr/>
        </p:nvSpPr>
        <p:spPr>
          <a:xfrm>
            <a:off x="7916333" y="130015"/>
            <a:ext cx="1778000" cy="365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월 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일 기준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F0BE48-DF34-9FE0-500F-79CEEEDE895F}"/>
              </a:ext>
            </a:extLst>
          </p:cNvPr>
          <p:cNvSpPr/>
          <p:nvPr/>
        </p:nvSpPr>
        <p:spPr>
          <a:xfrm>
            <a:off x="684057" y="3253312"/>
            <a:ext cx="8537886" cy="3176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이게 자동으로 나오고 비고 사항만 자동으로 나오면 좋겠다</a:t>
            </a:r>
            <a:r>
              <a:rPr lang="en-US" altLang="ko-KR"/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05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941497-9FA2-471F-B1DC-FBE005E809A9}"/>
              </a:ext>
            </a:extLst>
          </p:cNvPr>
          <p:cNvCxnSpPr/>
          <p:nvPr/>
        </p:nvCxnSpPr>
        <p:spPr>
          <a:xfrm>
            <a:off x="113869" y="495144"/>
            <a:ext cx="9680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F5E1777-5EDF-4515-9087-3DAB9EF6E704}"/>
              </a:ext>
            </a:extLst>
          </p:cNvPr>
          <p:cNvSpPr txBox="1"/>
          <p:nvPr/>
        </p:nvSpPr>
        <p:spPr bwMode="auto">
          <a:xfrm>
            <a:off x="9417496" y="-32468"/>
            <a:ext cx="504058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90" tIns="45696" rIns="91390" bIns="45696" anchor="ctr"/>
          <a:lstStyle/>
          <a:p>
            <a:pPr algn="r" defTabSz="457200" latinLnBrk="0">
              <a:defRPr/>
            </a:pPr>
            <a:fld id="{5FC0E33A-0694-4BC5-87EF-D800DB377E99}" type="slidenum">
              <a:rPr lang="ko-KR" altLang="en-US" sz="1400">
                <a:solidFill>
                  <a:prstClr val="black"/>
                </a:solidFill>
                <a:latin typeface="+mn-ea"/>
              </a:rPr>
              <a:pPr algn="r" defTabSz="457200" latinLnBrk="0">
                <a:defRPr/>
              </a:pPr>
              <a:t/>
            </a:fld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DD2324-C126-4B81-8369-711F7018E700}"/>
              </a:ext>
            </a:extLst>
          </p:cNvPr>
          <p:cNvSpPr/>
          <p:nvPr/>
        </p:nvSpPr>
        <p:spPr>
          <a:xfrm>
            <a:off x="-134166" y="15319"/>
            <a:ext cx="6260647" cy="486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2000" rIns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#.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(2) </a:t>
            </a: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SCM 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(</a:t>
            </a:r>
            <a:r>
              <a:rPr lang="ko-KR" altLang="en-US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입고부터 누적 기록</a:t>
            </a:r>
            <a:r>
              <a:rPr lang="en-US" altLang="ko-KR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)</a:t>
            </a:r>
            <a:endParaRPr lang="ko-KR" altLang="en-US" sz="2400" b="1" spc="-150" dirty="0">
              <a:ln>
                <a:solidFill>
                  <a:srgbClr val="C50017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E9D4CE8-6784-43FE-9D8C-37C9A395F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150003"/>
              </p:ext>
            </p:extLst>
          </p:nvPr>
        </p:nvGraphicFramePr>
        <p:xfrm>
          <a:off x="77973" y="510412"/>
          <a:ext cx="9716477" cy="6251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417">
                  <a:extLst>
                    <a:ext uri="{9D8B030D-6E8A-4147-A177-3AD203B41FA5}">
                      <a16:colId xmlns:a16="http://schemas.microsoft.com/office/drawing/2014/main" val="2025811134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74652621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348900781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479243044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272996356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73278983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99496516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59895263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08723728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345786962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72838165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92913163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3558158067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144839286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261759700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178336251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556764752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067605780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2247334849"/>
                    </a:ext>
                  </a:extLst>
                </a:gridCol>
                <a:gridCol w="409507">
                  <a:extLst>
                    <a:ext uri="{9D8B030D-6E8A-4147-A177-3AD203B41FA5}">
                      <a16:colId xmlns:a16="http://schemas.microsoft.com/office/drawing/2014/main" val="4147346447"/>
                    </a:ext>
                  </a:extLst>
                </a:gridCol>
                <a:gridCol w="1377427">
                  <a:extLst>
                    <a:ext uri="{9D8B030D-6E8A-4147-A177-3AD203B41FA5}">
                      <a16:colId xmlns:a16="http://schemas.microsoft.com/office/drawing/2014/main" val="3047933466"/>
                    </a:ext>
                  </a:extLst>
                </a:gridCol>
              </a:tblGrid>
              <a:tr h="15826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잘 입고했는가</a:t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매입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물류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잘 팔았는가</a:t>
                      </a:r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영업</a:t>
                      </a:r>
                      <a:r>
                        <a:rPr lang="en-US" altLang="ko-KR" sz="1050" b="0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050" b="0" spc="-1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비고 사항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781688"/>
                  </a:ext>
                </a:extLst>
              </a:tr>
              <a:tr h="316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pc="-150" dirty="0">
                          <a:solidFill>
                            <a:schemeClr val="tx1"/>
                          </a:solidFill>
                        </a:rPr>
                        <a:t>MD</a:t>
                      </a:r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입고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입고량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정보</a:t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정보</a:t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전달일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속도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15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별</a:t>
                      </a:r>
                      <a:endParaRPr lang="en-US" altLang="ko-KR" sz="10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150" dirty="0">
                          <a:solidFill>
                            <a:schemeClr val="tx1"/>
                          </a:solidFill>
                        </a:rPr>
                        <a:t>적합도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105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출고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>출고</a:t>
                      </a:r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출고량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출고율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판매량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/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150" dirty="0">
                          <a:solidFill>
                            <a:schemeClr val="tx1"/>
                          </a:solidFill>
                        </a:rPr>
                        <a:t>누적</a:t>
                      </a:r>
                      <a:endParaRPr lang="en-US" altLang="ko-KR" sz="1050" b="1" spc="-1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150" dirty="0" err="1">
                          <a:solidFill>
                            <a:schemeClr val="tx1"/>
                          </a:solidFill>
                        </a:rPr>
                        <a:t>매총율</a:t>
                      </a:r>
                      <a:endParaRPr lang="ko-KR" altLang="en-US" sz="105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91341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(1300</a:t>
                      </a:r>
                      <a:r>
                        <a:rPr lang="ko-KR" altLang="en-US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 입고</a:t>
                      </a:r>
                      <a:r>
                        <a:rPr lang="en-US" altLang="ko-KR" sz="10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585250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ko-KR" altLang="en-US" sz="1000" b="0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392043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en-US" altLang="ko-KR" sz="14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680249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6/16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6/16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en-US" altLang="ko-KR" sz="14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70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43882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테드베이커</a:t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6/16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6/16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en-US" altLang="ko-KR" sz="14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95874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6/10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6/18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en-US" altLang="ko-KR" sz="14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234185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6/19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375718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968465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31206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6/22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238345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667940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리틀그라운드</a:t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148718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래핑차일드</a:t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05441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메종키츠네</a:t>
                      </a:r>
                      <a:endParaRPr lang="ko-KR" alt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6/23</a:t>
                      </a: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69266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dirty="0"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321499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1" dirty="0"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563054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504387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spc="-15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022054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kern="1200" spc="-15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585747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480950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371246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5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02700"/>
                  </a:ext>
                </a:extLst>
              </a:tr>
              <a:tr h="25091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1" spc="-1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4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9049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88FEAF69-A8DE-482F-91BE-2025E3BCC94A}"/>
              </a:ext>
            </a:extLst>
          </p:cNvPr>
          <p:cNvSpPr/>
          <p:nvPr/>
        </p:nvSpPr>
        <p:spPr>
          <a:xfrm>
            <a:off x="7916333" y="130015"/>
            <a:ext cx="1778000" cy="365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월 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r>
              <a:rPr lang="ko-KR" altLang="en-US" b="1" dirty="0">
                <a:solidFill>
                  <a:schemeClr val="tx1"/>
                </a:solidFill>
              </a:rPr>
              <a:t>일 기준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34623F-0931-49AF-9D25-C914D07F6ECF}"/>
              </a:ext>
            </a:extLst>
          </p:cNvPr>
          <p:cNvSpPr/>
          <p:nvPr/>
        </p:nvSpPr>
        <p:spPr>
          <a:xfrm>
            <a:off x="2528125" y="3059136"/>
            <a:ext cx="5770056" cy="11536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/>
            </a:r>
            <a:endParaRPr lang="en-US" altLang="ko-K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95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78B0D29E-CA6A-4800-9112-DF25C9C52343}"/>
              </a:ext>
            </a:extLst>
          </p:cNvPr>
          <p:cNvSpPr txBox="1"/>
          <p:nvPr/>
        </p:nvSpPr>
        <p:spPr>
          <a:xfrm>
            <a:off x="6513227" y="103331"/>
            <a:ext cx="3134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ko-KR" altLang="en-US" sz="2000" b="1" dirty="0">
                <a:ln>
                  <a:solidFill>
                    <a:schemeClr val="accent6">
                      <a:alpha val="0"/>
                    </a:schemeClr>
                  </a:solidFill>
                </a:ln>
                <a:latin typeface="+mn-ea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14D63F-967E-4C37-A844-FFC1AD1ECF84}"/>
              </a:ext>
            </a:extLst>
          </p:cNvPr>
          <p:cNvSpPr/>
          <p:nvPr/>
        </p:nvSpPr>
        <p:spPr>
          <a:xfrm>
            <a:off x="10476755" y="1908590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pc="-150" dirty="0">
                <a:solidFill>
                  <a:prstClr val="black"/>
                </a:solidFill>
                <a:sym typeface="Wingdings" pitchFamily="2" charset="2"/>
              </a:rPr>
              <a:t>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5A477A-0E74-4501-9F9F-52B7841F3936}"/>
              </a:ext>
            </a:extLst>
          </p:cNvPr>
          <p:cNvCxnSpPr/>
          <p:nvPr/>
        </p:nvCxnSpPr>
        <p:spPr>
          <a:xfrm>
            <a:off x="113869" y="495144"/>
            <a:ext cx="9680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80F5C70-6CD8-4465-AC97-FE90C7AA3D9F}"/>
              </a:ext>
            </a:extLst>
          </p:cNvPr>
          <p:cNvSpPr txBox="1"/>
          <p:nvPr/>
        </p:nvSpPr>
        <p:spPr bwMode="auto">
          <a:xfrm>
            <a:off x="9417496" y="-32468"/>
            <a:ext cx="504058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90" tIns="45696" rIns="91390" bIns="45696" anchor="ctr"/>
          <a:lstStyle/>
          <a:p>
            <a:pPr algn="r" defTabSz="457200" latinLnBrk="0">
              <a:defRPr/>
            </a:pPr>
            <a:fld id="{5FC0E33A-0694-4BC5-87EF-D800DB377E99}" type="slidenum">
              <a:rPr lang="ko-KR" altLang="en-US" sz="1400">
                <a:solidFill>
                  <a:prstClr val="black"/>
                </a:solidFill>
                <a:latin typeface="+mn-ea"/>
              </a:rPr>
              <a:pPr algn="r" defTabSz="457200" latinLnBrk="0">
                <a:defRPr/>
              </a:pPr>
              <a:t/>
            </a:fld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8689F6-6469-42D9-AFF2-44FAE165B23A}"/>
              </a:ext>
            </a:extLst>
          </p:cNvPr>
          <p:cNvSpPr/>
          <p:nvPr/>
        </p:nvSpPr>
        <p:spPr>
          <a:xfrm>
            <a:off x="-134166" y="15319"/>
            <a:ext cx="6260647" cy="486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2000" rIns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물류 </a:t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1P (</a:t>
            </a:r>
            <a:r>
              <a:rPr lang="ko-KR" altLang="en-US" sz="2400" b="1" spc="-150" dirty="0" err="1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/>
            </a:r>
            <a:r>
              <a:rPr lang="en-US" altLang="ko-KR" sz="2400" b="1" spc="-150" dirty="0">
                <a:ln>
                  <a:solidFill>
                    <a:schemeClr val="accent6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)</a:t>
            </a:r>
            <a:endParaRPr lang="ko-KR" altLang="en-US" sz="2400" b="1" spc="-150" dirty="0">
              <a:ln>
                <a:solidFill>
                  <a:srgbClr val="C50017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A936261-996A-43A4-AD77-BB6CEB2FB1C8}"/>
              </a:ext>
            </a:extLst>
          </p:cNvPr>
          <p:cNvGraphicFramePr>
            <a:graphicFrameLocks noGrp="1"/>
          </p:cNvGraphicFramePr>
          <p:nvPr/>
        </p:nvGraphicFramePr>
        <p:xfrm>
          <a:off x="37206" y="565791"/>
          <a:ext cx="9813937" cy="620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458">
                  <a:extLst>
                    <a:ext uri="{9D8B030D-6E8A-4147-A177-3AD203B41FA5}">
                      <a16:colId xmlns:a16="http://schemas.microsoft.com/office/drawing/2014/main" val="2025811134"/>
                    </a:ext>
                  </a:extLst>
                </a:gridCol>
                <a:gridCol w="313875">
                  <a:extLst>
                    <a:ext uri="{9D8B030D-6E8A-4147-A177-3AD203B41FA5}">
                      <a16:colId xmlns:a16="http://schemas.microsoft.com/office/drawing/2014/main" val="3524753319"/>
                    </a:ext>
                  </a:extLst>
                </a:gridCol>
                <a:gridCol w="313875">
                  <a:extLst>
                    <a:ext uri="{9D8B030D-6E8A-4147-A177-3AD203B41FA5}">
                      <a16:colId xmlns:a16="http://schemas.microsoft.com/office/drawing/2014/main" val="2005490481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1732789837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2045401927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209915847"/>
                    </a:ext>
                  </a:extLst>
                </a:gridCol>
                <a:gridCol w="303186">
                  <a:extLst>
                    <a:ext uri="{9D8B030D-6E8A-4147-A177-3AD203B41FA5}">
                      <a16:colId xmlns:a16="http://schemas.microsoft.com/office/drawing/2014/main" val="3354934594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1159132724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853818013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375883650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910768513"/>
                    </a:ext>
                  </a:extLst>
                </a:gridCol>
                <a:gridCol w="265286">
                  <a:extLst>
                    <a:ext uri="{9D8B030D-6E8A-4147-A177-3AD203B41FA5}">
                      <a16:colId xmlns:a16="http://schemas.microsoft.com/office/drawing/2014/main" val="714588205"/>
                    </a:ext>
                  </a:extLst>
                </a:gridCol>
                <a:gridCol w="265286">
                  <a:extLst>
                    <a:ext uri="{9D8B030D-6E8A-4147-A177-3AD203B41FA5}">
                      <a16:colId xmlns:a16="http://schemas.microsoft.com/office/drawing/2014/main" val="3474454720"/>
                    </a:ext>
                  </a:extLst>
                </a:gridCol>
                <a:gridCol w="265286">
                  <a:extLst>
                    <a:ext uri="{9D8B030D-6E8A-4147-A177-3AD203B41FA5}">
                      <a16:colId xmlns:a16="http://schemas.microsoft.com/office/drawing/2014/main" val="1979171045"/>
                    </a:ext>
                  </a:extLst>
                </a:gridCol>
                <a:gridCol w="265286">
                  <a:extLst>
                    <a:ext uri="{9D8B030D-6E8A-4147-A177-3AD203B41FA5}">
                      <a16:colId xmlns:a16="http://schemas.microsoft.com/office/drawing/2014/main" val="2227338707"/>
                    </a:ext>
                  </a:extLst>
                </a:gridCol>
                <a:gridCol w="341083">
                  <a:extLst>
                    <a:ext uri="{9D8B030D-6E8A-4147-A177-3AD203B41FA5}">
                      <a16:colId xmlns:a16="http://schemas.microsoft.com/office/drawing/2014/main" val="2096134749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2218020523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1550640130"/>
                    </a:ext>
                  </a:extLst>
                </a:gridCol>
                <a:gridCol w="277945">
                  <a:extLst>
                    <a:ext uri="{9D8B030D-6E8A-4147-A177-3AD203B41FA5}">
                      <a16:colId xmlns:a16="http://schemas.microsoft.com/office/drawing/2014/main" val="4280306685"/>
                    </a:ext>
                  </a:extLst>
                </a:gridCol>
                <a:gridCol w="295644">
                  <a:extLst>
                    <a:ext uri="{9D8B030D-6E8A-4147-A177-3AD203B41FA5}">
                      <a16:colId xmlns:a16="http://schemas.microsoft.com/office/drawing/2014/main" val="3318379384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263138581"/>
                    </a:ext>
                  </a:extLst>
                </a:gridCol>
                <a:gridCol w="341083">
                  <a:extLst>
                    <a:ext uri="{9D8B030D-6E8A-4147-A177-3AD203B41FA5}">
                      <a16:colId xmlns:a16="http://schemas.microsoft.com/office/drawing/2014/main" val="1460699152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2579659375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3642104041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1090219658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4096112077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1041802121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4143079907"/>
                    </a:ext>
                  </a:extLst>
                </a:gridCol>
                <a:gridCol w="277944">
                  <a:extLst>
                    <a:ext uri="{9D8B030D-6E8A-4147-A177-3AD203B41FA5}">
                      <a16:colId xmlns:a16="http://schemas.microsoft.com/office/drawing/2014/main" val="988892939"/>
                    </a:ext>
                  </a:extLst>
                </a:gridCol>
                <a:gridCol w="1040596">
                  <a:extLst>
                    <a:ext uri="{9D8B030D-6E8A-4147-A177-3AD203B41FA5}">
                      <a16:colId xmlns:a16="http://schemas.microsoft.com/office/drawing/2014/main" val="1084118600"/>
                    </a:ext>
                  </a:extLst>
                </a:gridCol>
              </a:tblGrid>
              <a:tr h="162991"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핵심지표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비용영역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고객속도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05727"/>
                  </a:ext>
                </a:extLst>
              </a:tr>
              <a:tr h="13970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3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3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대 비용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피킹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출고 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9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8610"/>
                  </a:ext>
                </a:extLst>
              </a:tr>
              <a:tr h="21732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어느 영역</a:t>
                      </a: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누가</a:t>
                      </a:r>
                      <a:endParaRPr kumimoji="0" lang="en-US" altLang="ko-KR" sz="8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책임자</a:t>
                      </a:r>
                      <a:r>
                        <a:rPr kumimoji="0" lang="en-US" altLang="ko-KR" sz="6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r>
                        <a:rPr kumimoji="0" lang="en-US" altLang="ko-KR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임차료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인건비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운반비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포장비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비중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en-US" altLang="ko-KR" sz="7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1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91341"/>
                  </a:ext>
                </a:extLst>
              </a:tr>
              <a:tr h="147468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물류책임자</a:t>
                      </a:r>
                      <a:endParaRPr lang="en-US" altLang="ko-KR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9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5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96299"/>
                  </a:ext>
                </a:extLst>
              </a:tr>
              <a:tr h="153936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임차료</a:t>
                      </a:r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(8</a:t>
                      </a:r>
                      <a:r>
                        <a:rPr lang="ko-KR" altLang="en-US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  </a:t>
                      </a:r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80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404907"/>
                  </a:ext>
                </a:extLst>
              </a:tr>
              <a:tr h="1539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여성</a:t>
                      </a:r>
                      <a:endParaRPr kumimoji="0" lang="en-US" altLang="ko-KR" sz="10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ABC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창고 직접하기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56121"/>
                  </a:ext>
                </a:extLst>
              </a:tr>
              <a:tr h="153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남성</a:t>
                      </a:r>
                      <a:endParaRPr lang="en-US" altLang="ko-KR" sz="10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ABC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창고 직접하기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38833"/>
                  </a:ext>
                </a:extLst>
              </a:tr>
              <a:tr h="1539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아동</a:t>
                      </a:r>
                      <a:endParaRPr kumimoji="0" lang="en-US" altLang="ko-KR" sz="10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800" b="1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매각리스트 → 매각 속도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(6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9331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여성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레시피그룹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                 (1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 →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마시모두띠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SS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ABC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직영 점포 출고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32302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89818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70457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여성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여성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26105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52402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85586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여성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82254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37360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092016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46881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1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노스페이스 등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판매 저조한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매각 리스트 태우고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매각 속도 올리기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412352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39752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11439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493019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28973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16411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이노베이션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92394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0911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25719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857008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913323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컨템포러리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622144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컨템포러리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943701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34560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769365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남성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20710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급 판정 받은 아동 제품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매각 속도 내기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41196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캐릭터사입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899098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7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184927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5284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  <a:r>
                        <a:rPr 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594425"/>
                  </a:ext>
                </a:extLst>
              </a:tr>
              <a:tr h="1539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아동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b="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50" kern="1200" spc="-1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kern="1200" spc="-15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642643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6BECA539-B757-4311-9EDD-0FC1DD354819}"/>
              </a:ext>
            </a:extLst>
          </p:cNvPr>
          <p:cNvSpPr/>
          <p:nvPr/>
        </p:nvSpPr>
        <p:spPr>
          <a:xfrm>
            <a:off x="684057" y="3253312"/>
            <a:ext cx="8537886" cy="52449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34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1741</TotalTime>
  <Words>4338</Words>
  <Application>Microsoft Office PowerPoint</Application>
  <PresentationFormat>A4 용지(210x297mm)</PresentationFormat>
  <Paragraphs>2854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임창규(유통BG CLO실)</dc:creator>
  <cp:lastModifiedBy>오동하(유통BG AI 혁신 TF)</cp:lastModifiedBy>
  <cp:revision>944</cp:revision>
  <dcterms:created xsi:type="dcterms:W3CDTF">2026-05-26T06:50:59Z</dcterms:created>
  <dcterms:modified xsi:type="dcterms:W3CDTF">2026-06-23T04:33:21Z</dcterms:modified>
</cp:coreProperties>
</file>